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mount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Vazirmatn"/>
              </a:rPr>
              <a:t>پیشنهاد راه‌اندازی سامانه یکپارچه</a:t>
            </a:r>
          </a:p>
          <a:p>
            <a:pPr algn="r"/>
            <a:r>
              <a:rPr sz="3000" b="1">
                <a:solidFill>
                  <a:srgbClr val="FFFFFF"/>
                </a:solidFill>
                <a:latin typeface="Vazirmatn"/>
              </a:rPr>
              <a:t>مدیریت برنامه‌ها، اعضا و ارتباطات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E8F0EC"/>
                </a:solidFill>
                <a:latin typeface="Vazirmatn"/>
              </a:rPr>
              <a:t>حفظ سایت وردپرسی — نمایش برنامه‌ها — ثبت‌نام و پیامک یکپارچه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C97B2E"/>
                </a:solidFill>
                <a:latin typeface="Vazirmatn"/>
              </a:rPr>
              <a:t>باشگاه کوهنوردی و سنگنوردی اسپیلت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شناخت باشگاه اسپیلت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فعال از ۱۳۸۵ — تنوع برنامه‌ها</a:t>
            </a:r>
          </a:p>
        </p:txBody>
      </p:sp>
      <p:pic>
        <p:nvPicPr>
          <p:cNvPr id="5" name="Picture 4" descr="diagram-cl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فرصت بهبود فرایندهای فعلی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یکپارچه‌سازی بدون حذف سایت</a:t>
            </a:r>
          </a:p>
        </p:txBody>
      </p:sp>
      <p:pic>
        <p:nvPicPr>
          <p:cNvPr id="5" name="Picture 4" descr="diagram-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اتصال سایت وردپرسی به سامانه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دریافت خودکار فهرست برنامه‌ها</a:t>
            </a:r>
          </a:p>
        </p:txBody>
      </p:sp>
      <p:pic>
        <p:nvPicPr>
          <p:cNvPr id="5" name="Picture 4" descr="diagram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فرم انعطاف‌پذیر ساخت برنامه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هر برنامه قالب و فیلدهای خود را دارد</a:t>
            </a:r>
          </a:p>
        </p:txBody>
      </p:sp>
      <p:pic>
        <p:nvPicPr>
          <p:cNvPr id="5" name="Picture 4" descr="diagram-flexibl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6858000" cy="5669280"/>
          </a:xfrm>
          <a:prstGeom prst="rect">
            <a:avLst/>
          </a:prstGeom>
        </p:spPr>
      </p:pic>
      <p:pic>
        <p:nvPicPr>
          <p:cNvPr id="6" name="Picture 5" descr="locations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480560" cy="2942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انتشار و نمایش برنامه‌ها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اطلاعات کامل برای اعضا</a:t>
            </a:r>
          </a:p>
        </p:txBody>
      </p:sp>
      <p:pic>
        <p:nvPicPr>
          <p:cNvPr id="5" name="Picture 4" descr="tour-detai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1B3A2F"/>
                </a:solidFill>
                <a:latin typeface="Vazirmatn"/>
              </a:rPr>
              <a:t>• مسیر، تاریخ، مدت و درجه سختی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1B3A2F"/>
                </a:solidFill>
                <a:latin typeface="Vazirmatn"/>
              </a:rPr>
              <a:t>• هزینه، ظرفیت و تجهیزات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1B3A2F"/>
                </a:solidFill>
                <a:latin typeface="Vazirmatn"/>
              </a:rPr>
              <a:t>• وضعیت ثبت‌نام</a:t>
            </a:r>
          </a:p>
          <a:p>
            <a:pPr algn="r">
              <a:spcAft>
                <a:spcPts val="800"/>
              </a:spcAft>
            </a:pPr>
            <a:r>
              <a:rPr sz="1600" b="0">
                <a:solidFill>
                  <a:srgbClr val="1B3A2F"/>
                </a:solidFill>
                <a:latin typeface="Vazirmatn"/>
              </a:rPr>
              <a:t>• نمایش خودکار در سایت وردپرسی (پایلوت)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ثبت‌نام و مدیریت ظرفیت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از سایت تا میز مدیریت</a:t>
            </a:r>
          </a:p>
        </p:txBody>
      </p:sp>
      <p:pic>
        <p:nvPicPr>
          <p:cNvPr id="5" name="Picture 4" descr="registration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760720" cy="5029200"/>
          </a:xfrm>
          <a:prstGeom prst="rect">
            <a:avLst/>
          </a:prstGeom>
        </p:spPr>
      </p:pic>
      <p:pic>
        <p:nvPicPr>
          <p:cNvPr id="6" name="Picture 5" descr="diagram-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57784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1722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1B3A2F"/>
                </a:solidFill>
                <a:latin typeface="Vazirmatn"/>
              </a:rPr>
              <a:t>• ثبت‌نام آنلاین: آماده</a:t>
            </a:r>
          </a:p>
          <a:p>
            <a:pPr algn="r">
              <a:spcAft>
                <a:spcPts val="800"/>
              </a:spcAft>
            </a:pPr>
            <a:r>
              <a:rPr sz="1400" b="0">
                <a:solidFill>
                  <a:srgbClr val="1B3A2F"/>
                </a:solidFill>
                <a:latin typeface="Vazirmatn"/>
              </a:rPr>
              <a:t>• تأیید، رد و لیست انتظار: رابط آماده — داده در پایلوت</a:t>
            </a:r>
          </a:p>
          <a:p>
            <a:pPr algn="r">
              <a:spcAft>
                <a:spcPts val="800"/>
              </a:spcAft>
            </a:pPr>
            <a:r>
              <a:rPr sz="1400" b="0">
                <a:solidFill>
                  <a:srgbClr val="1B3A2F"/>
                </a:solidFill>
                <a:latin typeface="Vazirmatn"/>
              </a:rPr>
              <a:t>• کنترل ظرفیت باقی‌مانده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نقش‌ها، سرپرستان و گزارش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مدیر — مسئول آموزش — سرپرست</a:t>
            </a:r>
          </a:p>
        </p:txBody>
      </p:sp>
      <p:pic>
        <p:nvPicPr>
          <p:cNvPr id="5" name="Picture 4" descr="diagram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6583680" cy="5669280"/>
          </a:xfrm>
          <a:prstGeom prst="rect">
            <a:avLst/>
          </a:prstGeom>
        </p:spPr>
      </p:pic>
      <p:pic>
        <p:nvPicPr>
          <p:cNvPr id="6" name="Picture 5" descr="users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51560"/>
            <a:ext cx="4846320" cy="3108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عضویت، مدارک و پیامک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پیگیری متمرکز به‌جای پیام‌رسان پراکنده</a:t>
            </a:r>
          </a:p>
        </p:txBody>
      </p:sp>
      <p:pic>
        <p:nvPicPr>
          <p:cNvPr id="5" name="Picture 4" descr="diagram-membership-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نقشه توسعه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تفکیک آماده / پایلوت / آینده</a:t>
            </a:r>
          </a:p>
        </p:txBody>
      </p:sp>
      <p:pic>
        <p:nvPicPr>
          <p:cNvPr id="5" name="Picture 4" descr="diagram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پیشنهاد پایلوت شش‌ماهه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بدون هزینه اشتراک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راه‌اندازی، آموزش مدیران و سرپرستان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اتصال به سایت وردپرسی فعلی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اجرای ۳ برنامه واقعی (کوهنوردی، سنگنوردی، آموزش)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بررسی ثبت‌نام، پیامک و مدارک در عمل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گزارش ماه ۳ و ۶ به هیئت‌مدیره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تعیین شرایط ادامه پس از پایلوت</a:t>
            </a:r>
          </a:p>
          <a:p>
            <a:pPr algn="r">
              <a:spcAft>
                <a:spcPts val="800"/>
              </a:spcAft>
            </a:pPr>
            <a:r>
              <a:rPr sz="1700" b="0">
                <a:solidFill>
                  <a:srgbClr val="1B3A2F"/>
                </a:solidFill>
                <a:latin typeface="Vazirmatn"/>
              </a:rPr>
              <a:t>• هزینه پیامک و خدمات جانبی: جداگانه</a:t>
            </a:r>
          </a:p>
        </p:txBody>
      </p:sp>
      <p:pic>
        <p:nvPicPr>
          <p:cNvPr id="6" name="Picture 5" descr="otp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Vazirmatn"/>
              </a:rPr>
              <a:t>جمع‌بندی و گام بعدی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CCDDD6"/>
                </a:solidFill>
                <a:latin typeface="Vazirmatn"/>
              </a:rPr>
              <a:t>اسپیلت سایت خود را حفظ می‌کند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1B3A2F"/>
                </a:solidFill>
                <a:latin typeface="Vazirmatn"/>
              </a:rPr>
              <a:t>• سایت وردپرسی حفظ می‌شود</a:t>
            </a:r>
          </a:p>
          <a:p>
            <a:pPr algn="r">
              <a:spcAft>
                <a:spcPts val="800"/>
              </a:spcAft>
            </a:pPr>
            <a:r>
              <a:rPr sz="2000" b="0">
                <a:solidFill>
                  <a:srgbClr val="1B3A2F"/>
                </a:solidFill>
                <a:latin typeface="Vazirmatn"/>
              </a:rPr>
              <a:t>• برنامه‌ها از سامانه در سایت نمایش داده می‌شوند</a:t>
            </a:r>
          </a:p>
          <a:p>
            <a:pPr algn="r">
              <a:spcAft>
                <a:spcPts val="800"/>
              </a:spcAft>
            </a:pPr>
            <a:r>
              <a:rPr sz="2000" b="0">
                <a:solidFill>
                  <a:srgbClr val="1B3A2F"/>
                </a:solidFill>
                <a:latin typeface="Vazirmatn"/>
              </a:rPr>
              <a:t>• ثبت‌نام، ظرفیت، نقش‌ها و گزارش در یک محل</a:t>
            </a:r>
          </a:p>
          <a:p>
            <a:pPr algn="r">
              <a:spcAft>
                <a:spcPts val="800"/>
              </a:spcAft>
            </a:pPr>
            <a:r>
              <a:rPr sz="2000" b="0">
                <a:solidFill>
                  <a:srgbClr val="1B3A2F"/>
                </a:solidFill>
                <a:latin typeface="Vazirmatn"/>
              </a:rPr>
              <a:t>• پیامک و مدارک در فاز پایلوت فعال می‌شوند</a:t>
            </a:r>
          </a:p>
          <a:p>
            <a:pPr algn="r">
              <a:spcAft>
                <a:spcPts val="800"/>
              </a:spcAft>
            </a:pPr>
            <a:r>
              <a:rPr sz="2000" b="0">
                <a:solidFill>
                  <a:srgbClr val="1B3A2F"/>
                </a:solidFill>
                <a:latin typeface="Vazirmatn"/>
              </a:rPr>
              <a:t>• گام بعدی: تأیید پایلوت و زمان‌بندی جلسه آموزش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D6A4F"/>
                </a:solidFill>
                <a:latin typeface="Vazirmatn"/>
              </a:rPr>
              <a:t>هدف جایگزینی سایت نیست؛ هدف نظم‌دهی به فرایندهای باشگاه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C6368"/>
                </a:solidFill>
                <a:latin typeface="Vazirmatn"/>
              </a:rPr>
              <a:t>■ آماده   ■ فاز پایلوت   ■ نقشه توسعه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